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-457200"/>
            <a:ext cx="2560320" cy="2560320"/>
          </a:xfrm>
          <a:prstGeom prst="ellipse">
            <a:avLst/>
          </a:prstGeom>
          <a:solidFill>
            <a:srgbClr val="1A6FA8">
              <a:alpha val="40000"/>
            </a:srgbClr>
          </a:solidFill>
          <a:ln w="12700">
            <a:solidFill>
              <a:srgbClr val="1A6FA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3474720"/>
            <a:ext cx="2011680" cy="2011680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RISK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3774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Analytics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Chronic Disease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Strikes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BRFSS 2024  •  457,670 respondents  •  LightGBM + SHAP + 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3291840"/>
            <a:ext cx="5029200" cy="27432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Bajolah  |  Data Analyst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MutuelSanté — Fictional Health Insurer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MutuelSanté — National Health Insurer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283464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7830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insurers act reactively — claims arrive, costs are absorbed. Chronic diseases develop silently for years before surfacing as expensive medical events.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43000"/>
            <a:ext cx="2834640" cy="5029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7830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CDC BRFSS captures behavioral and demographic signals that precede chronic disease — observable today, before the diagnosis arrives.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14300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143000"/>
            <a:ext cx="28346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17830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risk engine scoring members on diabetes &amp; multi-morbidity risk, enabling proactive prevention and geographic prioritization.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 insured members  •  Rising chronic disease claims  •  No early warning system  •  Prevention budget misallocated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BRFSS 2024 — Behavioral Risk Factor Surveillance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457,670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30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69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69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+ territories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08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3008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survey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447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4472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DIABETE4 — Diabetes diagnosis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886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Multi-morbidity score (≥2 conditions)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15968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664208"/>
            <a:ext cx="320040" cy="32004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02352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behaviors, geography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176272"/>
            <a:ext cx="320040" cy="32004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2352" y="2176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risk scores, geo aggregations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688336"/>
            <a:ext cx="320040" cy="32004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02352" y="26883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LightGBM + Optuna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200400"/>
            <a:ext cx="320040" cy="32004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02352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+ individual analysis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712464"/>
            <a:ext cx="320040" cy="32004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712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02352" y="3712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37124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 on SQLite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 •  Pandas  •  LightGBM  •  SHAP  •  Plotly  •  SQLite  •  Optuna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Business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the entire analytical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1051560"/>
          </a:xfrm>
          <a:prstGeom prst="rect">
            <a:avLst/>
          </a:prstGeom>
          <a:solidFill>
            <a:srgbClr val="1A355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640080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profiles present the highest risk of diabetes or multi-morbidity — and how can they be identified before diagnosis?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029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in: Sections 2, 4, 5  •  Deliverable: Risk scoring model + high-risk profile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051560"/>
          </a:xfrm>
          <a:prstGeom prst="rect">
            <a:avLst/>
          </a:prstGeom>
          <a:solidFill>
            <a:srgbClr val="1A355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640080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states and socioeconomic segments is under-utilization of healthcare most critical?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218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in: Sections 2.6, 2.7, 7  •  Deliverable: Geographic risk map + segmentation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1A355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749040"/>
            <a:ext cx="64008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490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modifiable behaviors are the most actionable levers to reduce risk in the short term?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4074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in: Sections 2.5, 5.1, 5.2  •  Deliverable: Ranked behavioral levers via SHAP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Demographic &amp; Socioeconomic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signals identified before modeling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28016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" y="1885493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75-79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32304" y="114300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128016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32304" y="1885493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08576" y="114300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28016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08576" y="1885493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$10-15k income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84848" y="114300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128016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84848" y="1885493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606040"/>
            <a:ext cx="863193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6974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strongest demographic predictor — risk doubles above 60 and peaks at 24.1% for the 75-79 group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4472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shows a clear inverse gradient — from 24.8% at $10-15k down to 6.8% above $200k, a 3.6x difference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831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mirrors income — college graduates (11.2%) face half the risk of those with no schooling (27.2%)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21538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Unable-to-work segment carries the highest employment-based rate at 31.5% — combining health burden, low income, and limited access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Behavioral Risk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 is the strongest modifiable signal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23.6%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risk: 11.7%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892808"/>
            <a:ext cx="47548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92808"/>
            <a:ext cx="2805379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258568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(BMI ≥ 30)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22.7%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670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risk: 7.6%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+15.1pp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008376"/>
            <a:ext cx="47548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08376"/>
            <a:ext cx="2698394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374136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447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History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785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17.3%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785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risk: 12.8%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+4.5pp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123944"/>
            <a:ext cx="47548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23944"/>
            <a:ext cx="2056486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1143000"/>
            <a:ext cx="3401568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(smoking + sedentary + alcohol + obesity)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1874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1874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2313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2313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27523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58000" y="2752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23560" y="3191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8000" y="31912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23560" y="3630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58000" y="3630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23560" y="4069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0" y="4069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6032" y="4434840"/>
            <a:ext cx="8631936" cy="54864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1480" y="449884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Caution: Alcohol and e-cigarette variables show reverse causality — diabetics reduce consumption after diagnosis. Physical inactivity and BMI are the clean actionable signals.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12-point gap between highest and lowest states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States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374904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1828800"/>
            <a:ext cx="1984248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240280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377440"/>
            <a:ext cx="1856232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788920"/>
            <a:ext cx="374904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2926080"/>
            <a:ext cx="1792224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337560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3474720"/>
            <a:ext cx="1755648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886200"/>
            <a:ext cx="374904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86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4023360"/>
            <a:ext cx="1737360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1143000"/>
            <a:ext cx="431596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 States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691640"/>
            <a:ext cx="4023360" cy="4572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69280" y="1828800"/>
            <a:ext cx="896112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2240280"/>
            <a:ext cx="4023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240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0" y="2377440"/>
            <a:ext cx="96012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2788920"/>
            <a:ext cx="4023360" cy="4572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0" y="2926080"/>
            <a:ext cx="969264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09160" y="3337560"/>
            <a:ext cx="4023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337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669280" y="3474720"/>
            <a:ext cx="100584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09160" y="3886200"/>
            <a:ext cx="4023360" cy="4572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886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669280" y="4023360"/>
            <a:ext cx="1014984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Belt clearly visible — Appalachian and Southeastern states combine high poverty, food deserts, and limited healthcare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derived variables created from raw BRFSS signals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425196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417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height &amp; weight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691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 (≥30): 22.7% diabetes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7.6% diabetes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3865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 gradient — clean signal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1143000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143000"/>
            <a:ext cx="425196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7176" y="1417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+ Sedentary + Alcohol + Obesity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7176" y="1691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0: 10.7%  →  Score 4: 25.7%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37176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gradient confirmed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23865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pre-screening tool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017520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17520"/>
            <a:ext cx="4251960" cy="4572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017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Multi-Morbidity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32918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10 chronic conditions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" y="3566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0: 7.5%  →  Score 10: 76.2%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3913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+5-7pp per additional condition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" y="42611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derived predictor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0016" y="3017520"/>
            <a:ext cx="4251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3017520"/>
            <a:ext cx="4251960" cy="4572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3017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Under-Care Index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37176" y="32918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doctor + cost barrier + no checkup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37176" y="3566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undetected diabetes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37176" y="3913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index = likely undiagnosed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42611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low risk — under-diagnosed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Baseline vs LightGBM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0.8051 → 0.8216 | +1.65pp improvement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42519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4251960" cy="5029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88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481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0.8051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" y="2258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(Diabetic)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24912" y="2258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734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" y="3657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with balanced class_weight. Good recall but high false positive rate.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1143000"/>
            <a:ext cx="42519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143000"/>
            <a:ext cx="425196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188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7176" y="1481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 — 601 trees, Optuna-tuned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68896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37176" y="2258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(Diabetic)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68896" y="2258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37176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68896" y="2734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37176" y="3657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AUC and precision. Well-calibrated probabilities (0.0005 → 0.8766).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160520"/>
            <a:ext cx="863193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scale_pos_weight (compresses probabilities) — threshold tuned to 0.20 at 85th percentile — Optuna optimization confirmed near-optimal parameters (AUC gain &lt; 0.001)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Threshold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0.20 — optimal balance for prevention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5029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Policy Comparison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14300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1143000" cy="3200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42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664208"/>
            <a:ext cx="114300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1664208"/>
            <a:ext cx="1143000" cy="3200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6642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664208"/>
            <a:ext cx="114300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1664208"/>
            <a:ext cx="1143000" cy="3200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6642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1664208"/>
            <a:ext cx="114300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Flagged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1664208"/>
            <a:ext cx="1143000" cy="3200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6642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Flagged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02996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02996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02996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202996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244144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244144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8920" y="244144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244144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441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00200" y="2441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88920" y="2441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77640" y="24414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852928"/>
            <a:ext cx="1143000" cy="365760"/>
          </a:xfrm>
          <a:prstGeom prst="rect">
            <a:avLst/>
          </a:prstGeom>
          <a:solidFill>
            <a:srgbClr val="E8F4F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00200" y="2852928"/>
            <a:ext cx="1143000" cy="365760"/>
          </a:xfrm>
          <a:prstGeom prst="rect">
            <a:avLst/>
          </a:prstGeom>
          <a:solidFill>
            <a:srgbClr val="E8F4F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8920" y="2852928"/>
            <a:ext cx="1143000" cy="365760"/>
          </a:xfrm>
          <a:prstGeom prst="rect">
            <a:avLst/>
          </a:prstGeom>
          <a:solidFill>
            <a:srgbClr val="E8F4F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2852928"/>
            <a:ext cx="1143000" cy="365760"/>
          </a:xfrm>
          <a:prstGeom prst="rect">
            <a:avLst/>
          </a:prstGeom>
          <a:solidFill>
            <a:srgbClr val="E8F4FD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2852928"/>
            <a:ext cx="4754880" cy="365760"/>
          </a:xfrm>
          <a:prstGeom prst="rect">
            <a:avLst/>
          </a:prstGeom>
          <a:solidFill>
            <a:srgbClr val="E8F4FD"/>
          </a:solidFill>
          <a:ln w="19050">
            <a:solidFill>
              <a:srgbClr val="1A7A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8529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00200" y="28529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88920" y="28529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77640" y="28529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326440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200" y="326440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88920" y="326440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77640" y="3264408"/>
            <a:ext cx="1143000" cy="365760"/>
          </a:xfrm>
          <a:prstGeom prst="rect">
            <a:avLst/>
          </a:prstGeom>
          <a:solidFill>
            <a:srgbClr val="F4F7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264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600200" y="3264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88920" y="3264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977640" y="3264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367588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00200" y="367588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88920" y="367588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77640" y="3675888"/>
            <a:ext cx="1143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6758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600200" y="36758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788920" y="36758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977640" y="36758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0" y="1143000"/>
            <a:ext cx="34015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623560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@ t=0.20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623560" y="169164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623560" y="1691640"/>
            <a:ext cx="73152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760720" y="19751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9,029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720840" y="19751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Diabetics correctly flagged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23560" y="235915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23560" y="2359152"/>
            <a:ext cx="73152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60720" y="2386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760720" y="2642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4,133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720840" y="26426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Diabetics missed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623560" y="3026664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623560" y="3026664"/>
            <a:ext cx="73152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0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760720" y="3310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16,780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72084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Non-diabetics flagged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23560" y="369417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623560" y="3694176"/>
            <a:ext cx="73152" cy="566928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6072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6072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60,707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6720840" y="3977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rationale: False negative cost ($12,000 excess annual claim) &gt;&gt; False positive cost ($300 prevention program)  →  Optimize for Recall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Global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and their business interpretation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5303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Ranking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_AGEG5YR (Age)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728216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728216"/>
            <a:ext cx="2560320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6459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0482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 (General Health)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2130552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130552"/>
            <a:ext cx="1969477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0482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450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CHECKUP1 (Last Checkup)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532888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532888"/>
            <a:ext cx="1260465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4505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852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2935224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935224"/>
            <a:ext cx="1181686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255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ALCDAY4 (Alcohol)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3337560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337560"/>
            <a:ext cx="748401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2552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657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CHCKDNY2 (Kidney Disease)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3739896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739896"/>
            <a:ext cx="315116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657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EXERANY2 (Exercise)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4142232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0" y="4142232"/>
            <a:ext cx="275727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4059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462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state_diabetes_rate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0" y="4544568"/>
            <a:ext cx="25603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4544568"/>
            <a:ext cx="236337" cy="18288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44622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15000" y="1143000"/>
            <a:ext cx="317296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52160" y="1234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52160" y="1691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Age + General Health + BMI are the top 3 drivers — confirmed by EDA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2286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Checkup &amp; alcohol show reverse causality — model correctly identifies confounds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5216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Alternative model (no protected attributes) retains 97.7% of AUC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34747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Geographic signal (state rate) adds value beyond individual features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52160" y="4069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Physical inactivity (EXERANY2) is the most actionable clean lever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actionable segments from the scoring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863193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201168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12161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618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portfolio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1216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1618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9240" y="1399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 annual checkup protocol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075688"/>
            <a:ext cx="863193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075688"/>
            <a:ext cx="201168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67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MODERATE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5328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0.10 – 0.20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23160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148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31920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Targeted prevention communication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008376"/>
            <a:ext cx="863193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08376"/>
            <a:ext cx="201168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998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HIGH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4655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0.20 – 0.40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23160" y="3081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423160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3081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93192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3264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 prevention program enrollment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3941064"/>
            <a:ext cx="863193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941064"/>
            <a:ext cx="2011680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0325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CRITICAL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" y="4398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0.40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4014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423160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31920" y="40142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931920" y="44165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41970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Immediate proactive screening outreach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tier (8.2% of portfolio) carries 50.4% diabetes rate — 1 in 2 members is diabetic  •  3,680 likely undetected cases identified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Plotly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dashboard embedded in the Kaggle notebook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4251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1252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Diabetes Prevalence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6459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 of all 50 US states + territories. Color scale from 9.8% (Colorado) to 21.7% (West Virginia). Interactive hover for state details.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0016" y="1143000"/>
            <a:ext cx="4251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37176" y="1252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Risk Tier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7176" y="16459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showing portfolio breakdown: 52.7% Low, 18.8% Moderate, 20.3% High, 8.2% Critical. Interactive segment selection.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880360"/>
            <a:ext cx="4251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" y="29900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Diabetes Rate by 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" y="33832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3.4% → 50.4% gradient across the 4 risk tiers. Color-coded green to red. Hover for member counts.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2880360"/>
            <a:ext cx="4251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37176" y="29900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Top 10 SHAP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33832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of mean absolute SHAP values. Confirms age and general health as dominant predictors. Linked to interpretability section.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Plotly make_subplots — fully interactive HTML export — embedded directly in the notebook, no external tools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 on SQLite — 453,241 rows loaded in-memory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28346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Highest Risk Profiles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2651760" cy="14630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64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age_group, income_group, bmi_group,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AVG(TARGET_DIABETES)*100 AS diabetes_rate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brfss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avg_risk_score DESC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55-69 + Low income + Obese → 40.5% diabetes rate. 3.6x higher than the safest segment.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1430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143000"/>
            <a:ext cx="28346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170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Under-Detection Hotspots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1627632"/>
            <a:ext cx="2651760" cy="14630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664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UNDERCARE_INDEX&gt;=2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TARGET_DIABETES=0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1 END) AS likely_undetected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brfss GROUP BY STATE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28416" y="3154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340156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(11.5%), Nevada (11.4%), New Mexico (11.4%) — different states than the Diabetes Belt, revealing a second prevention priority axis.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11430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1143000"/>
            <a:ext cx="283464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170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Behavioral Risk Combinations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2784" y="1627632"/>
            <a:ext cx="2651760" cy="14630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66420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activity, bmi_status, smoking,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AVG(TARGET_DIABETES)*100 AS 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brfss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activity, bmi_status, smoking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rate DESC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91072" y="31546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340156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+ Obese + Smoker: 33.9% vs Active + Non-obese + Non-smoker: 7.6% — a 4.5x difference.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in-memory — no installation required — queries run directly on cleaned DataFrame — production-ready for Snowflake, BigQuery, or Redshift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 levers + financial simulation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5953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43000"/>
            <a:ext cx="4251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280160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Screening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Critical + High tier members. Subsidized checkup invitations for 3,680 undetected Critical-tier cases.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1143000"/>
            <a:ext cx="4251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37176" y="128016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9824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Targeting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9824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prevention budgets in WV, KY, SC. Regional pilot in 2-3 states before national rollout.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240280"/>
            <a:ext cx="4251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2377440"/>
            <a:ext cx="502920" cy="502920"/>
          </a:xfrm>
          <a:prstGeom prst="ellipse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+ BMI reduction programs for members with behavioral risk score ≥ 2 (38% of portfolio).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2240280"/>
            <a:ext cx="4251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37176" y="237744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9824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Under-Care Outreach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9824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community health fairs for under-care index ≥ 2. Partner with primary care in high-prevalence states.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429000"/>
            <a:ext cx="863193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4930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Simulation @ threshold 0.20  (illustrative — US average benchmarks)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8221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flagged: </a:t>
            </a:r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25,809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Prevention cost: 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$7.7M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detection savings: </a:t>
            </a:r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$27.1M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Net benefit: </a:t>
            </a:r>
            <a:pPr indent="0" marL="0">
              <a:buNone/>
            </a:pPr>
            <a:r>
              <a:rPr lang="en-US" sz="16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$19.3M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Limits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5212080" cy="3840480"/>
          </a:xfrm>
          <a:prstGeom prst="rect">
            <a:avLst/>
          </a:prstGeom>
          <a:solidFill>
            <a:srgbClr val="1A355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(0-3 months)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pilot — WV, KY, SC randomized trial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— claims + EHR integration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— alternative model clearance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 (3-12 months)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 — automated tier assignment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— AUC alert at 0.80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02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program design by tier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(12+ months)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23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Multi-morbidity expansion (heart, COPD, depression)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982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REST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005840"/>
            <a:ext cx="3218688" cy="3840480"/>
          </a:xfrm>
          <a:prstGeom prst="rect">
            <a:avLst/>
          </a:prstGeom>
          <a:solidFill>
            <a:srgbClr val="1A355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Watchpoints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1508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Declarative bias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06440" y="1764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data — behaviors under-reported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2057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causality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2313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survey — correlates, not causes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US-specific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2862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not transferable without retraining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0644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Temporal drift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3410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annually — behavioral patterns evolve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3703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Ethics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3959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Age/sex as top features — legal review required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4251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Simulation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4507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benchmarks are illustrative — pilot needed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7A9A"/>
          </a:solidFill>
          <a:ln w="12700">
            <a:solidFill>
              <a:srgbClr val="1A7A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Risk — Arvind Bajolah, Data Analyst  |  github.com/ArvindB75/silent-risk-chronic-disease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Risk — Predicting Chronic Disease Before It Strikes</dc:title>
  <dc:subject>PptxGenJS Presentation</dc:subject>
  <dc:creator>Arvind Bajolah</dc:creator>
  <cp:lastModifiedBy>Arvind Bajolah</cp:lastModifiedBy>
  <cp:revision>1</cp:revision>
  <dcterms:created xsi:type="dcterms:W3CDTF">2026-03-19T11:58:49Z</dcterms:created>
  <dcterms:modified xsi:type="dcterms:W3CDTF">2026-03-19T11:58:49Z</dcterms:modified>
</cp:coreProperties>
</file>